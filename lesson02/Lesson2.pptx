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94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ACD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AC860B-0885-4DCE-B00A-494C3D23F9E6}" v="124" dt="2026-01-22T01:58:46.9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605" autoAdjust="0"/>
  </p:normalViewPr>
  <p:slideViewPr>
    <p:cSldViewPr snapToGrid="0">
      <p:cViewPr varScale="1">
        <p:scale>
          <a:sx n="77" d="100"/>
          <a:sy n="77" d="100"/>
        </p:scale>
        <p:origin x="864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6:41:36.9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0,'1269'55'0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16:41:44.0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38,'1050'0,"-1029"-1,0-1,36-9,-34 6,-1 1,27-1,65 7,48-4,-140-2,-4-2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16:41:47.0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1 112,'16'-1,"1"-1,-1-1,0 0,0-1,22-9,-15 5,35-8,18 9,8-2,-13-1,0 3,1 3,85 7,-29-1,-87-2,25 1,1-3,89-14,-107 9,1 3,71 3,-97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16:41:49.7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30,'13'-5,"-1"0,1 1,0 0,0 1,0 1,21-2,86 2,-76 3,22-1,-2-1,125 14,-126-6,69 0,-35-3,21 9,41 1,-135-14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6:41:57.2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0,'1050'138'0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6:42:15.1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0,'1575'111'0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6:42:19.9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0,'799'0'0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16:42:23.7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0,'1353'0,"-1329"0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16:42:28.2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2,'131'-2,"148"4,-167 12,-67-8,54 2,10-10,83 4,-125 11,-51-8,1-2,22 3,120-4,-98-3,-37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6:42:35.3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 0,'939'-29'0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the coding exercise.</a:t>
            </a:r>
          </a:p>
          <a:p>
            <a:r>
              <a:rPr lang="en-US" dirty="0"/>
              <a:t>Foundational components of a simple class</a:t>
            </a:r>
          </a:p>
          <a:p>
            <a:r>
              <a:rPr lang="en-US" dirty="0"/>
              <a:t>Discuss data types</a:t>
            </a:r>
          </a:p>
          <a:p>
            <a:r>
              <a:rPr lang="en-US" dirty="0"/>
              <a:t>Tracing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24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DD168-0C97-EF8E-5270-BE8FDCC4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27BAA-6AC7-2501-F492-1B3EB3542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78E59-BE35-69F4-5521-D16891DC5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the coding exercise.</a:t>
            </a:r>
          </a:p>
          <a:p>
            <a:r>
              <a:rPr lang="en-US" dirty="0"/>
              <a:t>Foundational components of a simple class</a:t>
            </a:r>
          </a:p>
          <a:p>
            <a:r>
              <a:rPr lang="en-US" dirty="0"/>
              <a:t>Discuss data types</a:t>
            </a:r>
          </a:p>
          <a:p>
            <a:r>
              <a:rPr lang="en-US" dirty="0"/>
              <a:t>Tracing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EC255-90FF-00C1-FC6D-1981C47E2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852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BCC0-62AB-043F-7FBA-BC66EE8F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542B5-944A-2C46-447D-17C78F62D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EB0DC-A7E8-6E24-ADDF-8217F9EB9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the coding exercise.</a:t>
            </a:r>
          </a:p>
          <a:p>
            <a:r>
              <a:rPr lang="en-US" dirty="0"/>
              <a:t>Discuss import and packages</a:t>
            </a:r>
          </a:p>
          <a:p>
            <a:r>
              <a:rPr lang="en-US" dirty="0"/>
              <a:t>Discuss object instances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70219-7EEC-ADDE-3061-37A65DA8F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808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F9126-66DE-3E1C-9F9D-BC31B78B9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16561-91DB-787B-20F6-42DFDC929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7C0E5-A517-A88F-3209-C16C53212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03D8D-30D6-52A7-5956-B5D8DF21F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680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coding example and look at the logs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93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FF08D-C54C-0B4F-5FBE-0DF9728A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8F6C6-E05D-86EF-2D4F-4F0BBC843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3A82F-C8B6-16EF-77DD-0A498181B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the coding exercise.</a:t>
            </a:r>
          </a:p>
          <a:p>
            <a:r>
              <a:rPr lang="en-US" dirty="0"/>
              <a:t>Discuss import and packages</a:t>
            </a:r>
          </a:p>
          <a:p>
            <a:r>
              <a:rPr lang="en-US" dirty="0"/>
              <a:t>Discuss object instances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CD217-06A5-BD8C-C3EF-CA82C6815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199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B61D-3E24-B743-8EF2-2EE4F531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27ED8-BC79-6DF0-DF7C-C4806A2F7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45043-7B7B-3205-A166-E6FB74828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the coding exercise.</a:t>
            </a:r>
          </a:p>
          <a:p>
            <a:r>
              <a:rPr lang="en-US" dirty="0"/>
              <a:t>Discuss import and packages</a:t>
            </a:r>
          </a:p>
          <a:p>
            <a:r>
              <a:rPr lang="en-US" dirty="0"/>
              <a:t>Discuss object instances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1476F-5742-9DB9-9536-4041AA8F6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097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76BD-D0EB-8581-6F85-C8A97EBE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CE4F0-80D0-27AC-362C-B8D47C9E4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8A1BC-097B-C243-9929-34C36B362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C3911-D3AC-8C3E-9D4C-7A709DBCB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679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3243A-F05D-52D4-326E-BF94E63DF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22BEA-37C5-0FA7-2F20-9FA2E9612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C29AB-EEDB-7CD0-8171-ADB8DBD71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67F2E-BDB1-4EA0-821B-938CCFBDB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20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1742-D432-295D-4D9E-B84CBFD84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8EFA7-567E-ADA7-825B-A8B1C6CD4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A65FD-7CC7-B6A0-C46D-16872D6DF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60457-454E-5F67-BA1B-F6F63E78F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50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311F-F6CF-9BFA-CB93-A367C603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B31FD-52E1-F53F-6A47-E73B08601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152EA-3AE2-06FD-CC62-F4B415335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36022-27A4-4AFD-65E1-5BE82B9E3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238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D142-FB8B-45F5-A5F8-23447F5C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13BA6-9937-9A7D-97FB-618D7D98C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91D02-C16A-D92D-E8B2-D55050D37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8C08E-3C44-8101-71C0-22481E9CC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85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D2080-DB60-71A4-6154-0902FAC1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802C1-E6E8-BF41-C4B1-B9B5E3DE5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F6965-17CD-2F4A-BF1B-1E49AD8AE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A805B-B44E-16CE-9171-3CF992275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068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419BE-80D7-B3F3-6013-64CBB015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53CB3-C74E-E14E-D52F-A27D2A064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242D7-478A-9BE9-740F-B7745C30A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F to C exercise.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7C6A0-4F36-8C9C-F6CE-96C22CCDB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383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70C06-82ED-7E3B-2FD6-0D1E664A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C8149-8AD3-5274-B1FE-6065E7498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47BAD-1CEB-95B7-2B52-C973158B6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F to C exercise.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98AE6-3DAC-9482-572B-E389698F7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068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3CFC-1FB3-11B8-7866-5FEB0808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F418C-B302-DDDF-3355-10E209718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240E9-E667-F5E7-DEEA-7E6822E87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F to C exercise.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BC68-8C1C-4D02-F48C-169F19A8A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5212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FBC9-6066-98F6-6275-980ADE0A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AA062-D260-E6A4-FF43-6118FCE8E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E5BE4-88C2-B3E9-02BE-16F556B70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sample code in the scratch pad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01270-13DF-03AA-349E-235B5F19C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24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06D9-12C5-2DC0-0F54-8528A89F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18141-625F-08E1-B0B0-A0CC03181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8BE53-A957-5F4D-D8B8-DCE0A0FF9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1EE3A-F8BA-232D-6746-CC464DE5B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2996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47E4-FD28-0ED6-32E0-23B0A45F3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54A05-58D2-2DF4-7B6D-66A6C59A9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08947-1594-9C3A-5491-CBFA33EB8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C78FD-774A-F12A-0D6C-F80A435E7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931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2EF51-1742-A1CE-ECCC-688E834FF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23942-1E94-5564-9F0E-31914A918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903A7-0347-A8E4-5A33-4D044D9E5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69C53-395C-2859-E151-2F70F502B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032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0537-2D8B-8897-316B-C50E2719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0BA34-D3F0-7B92-9C54-1F83A572F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7A4D0-FFC0-1B3F-A751-8751DD46E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D63F0-7A87-E3E2-0C82-BA94B7098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3177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055EF-A789-4EDE-A0B6-F9F9E869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89388-5870-A3A2-83AA-FFF77C36B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3FEBD-6F2B-AE9C-036A-E18241CCD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2B540-C7F8-975A-6723-A590B4343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2793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7CEE-0AC3-527B-F75B-9A2CDDA8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C340D-28AA-7CD1-E773-0E2FF7D14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3EB80-5AA4-6252-550D-31BFFB1C0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3E207-79BF-9492-A01C-B5EF66124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3084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2AC8-65C8-7A23-3BC7-E1C09CF5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9EC8B-7190-E1BD-FF2D-B2E05590E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F55CA-9BD5-809C-B138-30D0E0BB9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0B147-73C1-D308-5881-5F1C0EBBE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4333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60106-B7A9-9F19-CCD1-D09C5E22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3D1DB-DB6E-ECEB-D0E5-ACE14BCF4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D3A9F-0162-F856-CCB3-9852C2803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E701E-193E-6D5A-3FB5-3780C0852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173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074B-047A-D8B3-7736-99E705B54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E5584F-8B6F-A956-DF01-A36B99A3C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97FE6-0092-DEA1-55CE-75A5C39AA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DBC2B-31F9-1B1C-FBEC-CC58F50B0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7355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EBFD-A870-8144-B713-FFE868569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A939F-6E91-FCAC-887C-801DF6E31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71A43-CEE2-D8E9-4FC2-D6AEB549B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2FF7E-41BF-3052-BDEA-B2ED5AAA3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1196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79-C7E5-C98A-AC50-5BF91F56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23319-E1E2-72B2-EA33-3B3343380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50A5F-2516-4530-C379-DF6DFA097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3CDB3-3AB2-FF51-06B2-E6FD190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0342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2540-A92B-F050-1F53-361E0D1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3A3CF-206B-C72A-1AF0-0B0D5E350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608E5-7D83-C50D-4601-0EE30A181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D7D71-1D0F-6F42-A865-AC5ACEC5A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4573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3C9A-1A1A-8BA2-445F-5C119B1BA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95C47-7B82-CDA2-232D-592F58240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C67F8-04AD-1923-2D54-B18AC5B1E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F0E79-48FB-AE7D-0D10-4D2DDDF8F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007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6.xml"/><Relationship Id="rId18" Type="http://schemas.openxmlformats.org/officeDocument/2006/relationships/image" Target="../media/image18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5.png"/><Relationship Id="rId17" Type="http://schemas.openxmlformats.org/officeDocument/2006/relationships/customXml" Target="../ink/ink8.xml"/><Relationship Id="rId2" Type="http://schemas.openxmlformats.org/officeDocument/2006/relationships/image" Target="../media/image10.png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4.png"/><Relationship Id="rId19" Type="http://schemas.openxmlformats.org/officeDocument/2006/relationships/customXml" Target="../ink/ink9.xml"/><Relationship Id="rId4" Type="http://schemas.openxmlformats.org/officeDocument/2006/relationships/image" Target="../media/image11.png"/><Relationship Id="rId9" Type="http://schemas.openxmlformats.org/officeDocument/2006/relationships/customXml" Target="../ink/ink4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sz="6600" dirty="0"/>
              <a:t>Java Programming I</a:t>
            </a:r>
            <a:endParaRPr lang="ru-RU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Cist2371 – lesson2 (elementary programming)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53FA-8622-2F4A-F005-4DAFBBCC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1B50C-A0AA-03E7-5C5D-E73351B39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focus of this chapter is on learning elementary programming techniques to solve problems using:</a:t>
            </a:r>
          </a:p>
          <a:p>
            <a:pPr lvl="1"/>
            <a:r>
              <a:rPr lang="en-US" dirty="0"/>
              <a:t>primitive data types</a:t>
            </a:r>
          </a:p>
          <a:p>
            <a:pPr lvl="1"/>
            <a:r>
              <a:rPr lang="en-US" dirty="0"/>
              <a:t>variables</a:t>
            </a:r>
          </a:p>
          <a:p>
            <a:pPr lvl="1"/>
            <a:r>
              <a:rPr lang="en-US" dirty="0"/>
              <a:t>constants</a:t>
            </a:r>
          </a:p>
          <a:p>
            <a:pPr lvl="1"/>
            <a:r>
              <a:rPr lang="en-US" dirty="0"/>
              <a:t>operators</a:t>
            </a:r>
          </a:p>
          <a:p>
            <a:pPr lvl="1"/>
            <a:r>
              <a:rPr lang="en-US" dirty="0"/>
              <a:t>expressions</a:t>
            </a:r>
          </a:p>
          <a:p>
            <a:pPr lvl="1"/>
            <a:r>
              <a:rPr lang="en-US" dirty="0"/>
              <a:t>input and output.</a:t>
            </a:r>
          </a:p>
        </p:txBody>
      </p:sp>
    </p:spTree>
    <p:extLst>
      <p:ext uri="{BB962C8B-B14F-4D97-AF65-F5344CB8AC3E}">
        <p14:creationId xmlns:p14="http://schemas.microsoft.com/office/powerpoint/2010/main" val="421158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A659-7907-EF1A-C813-4BEEC702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69001-589E-814D-956F-8BC0CB71C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 Writing a simple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4030F-F5E6-2685-523F-AB63A1982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700375"/>
          </a:xfrm>
        </p:spPr>
        <p:txBody>
          <a:bodyPr/>
          <a:lstStyle/>
          <a:p>
            <a:r>
              <a:rPr lang="en-US" dirty="0"/>
              <a:t>Writing a program involves </a:t>
            </a:r>
            <a:r>
              <a:rPr lang="en-US" b="1" u="sng" dirty="0"/>
              <a:t>designing a strategy</a:t>
            </a:r>
            <a:r>
              <a:rPr lang="en-US" dirty="0"/>
              <a:t> for solving the problem then using a programming language to implement that strategy.</a:t>
            </a:r>
          </a:p>
          <a:p>
            <a:r>
              <a:rPr lang="en-US" dirty="0"/>
              <a:t>Designing an </a:t>
            </a:r>
            <a:r>
              <a:rPr lang="en-US" b="1" u="sng" dirty="0"/>
              <a:t>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B6C5A-3A66-86FE-7B5E-7A5898BCC0E9}"/>
              </a:ext>
            </a:extLst>
          </p:cNvPr>
          <p:cNvSpPr txBox="1"/>
          <p:nvPr/>
        </p:nvSpPr>
        <p:spPr>
          <a:xfrm>
            <a:off x="1977656" y="3668232"/>
            <a:ext cx="7640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Problem</a:t>
            </a:r>
            <a:r>
              <a:rPr lang="en-US" dirty="0"/>
              <a:t>: Design an application that computes the area of a circle.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774DD9-72F6-31C2-87C2-25A2CEAE0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964" y="4696485"/>
            <a:ext cx="4229467" cy="1912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DB9639-FCAA-E97C-F862-5CEE5334E464}"/>
              </a:ext>
            </a:extLst>
          </p:cNvPr>
          <p:cNvSpPr txBox="1"/>
          <p:nvPr/>
        </p:nvSpPr>
        <p:spPr>
          <a:xfrm>
            <a:off x="1977656" y="4168917"/>
            <a:ext cx="7096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Algorithm</a:t>
            </a:r>
            <a:r>
              <a:rPr lang="en-US" dirty="0"/>
              <a:t>: Pseudocode that outlines the application workflow</a:t>
            </a:r>
          </a:p>
        </p:txBody>
      </p:sp>
    </p:spTree>
    <p:extLst>
      <p:ext uri="{BB962C8B-B14F-4D97-AF65-F5344CB8AC3E}">
        <p14:creationId xmlns:p14="http://schemas.microsoft.com/office/powerpoint/2010/main" val="3549016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6938E-9AB2-FD3D-CDED-01C36BB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1F4E4-7898-9E89-9BCB-CBA40434E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 Writing a simple program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DEA378-BF22-13DF-17E6-040AC58B6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1271874"/>
            <a:ext cx="10652727" cy="431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29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9C439-6ABF-26B5-9029-724AFDAD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984C-CA68-78F8-737A-97DD1286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 Reading input from the console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1FA45-F61B-F7DE-930B-C9844E4B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700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Reading input from the console enables the program to accept </a:t>
            </a:r>
            <a:r>
              <a:rPr lang="en-US" b="1" u="sng" dirty="0"/>
              <a:t>input</a:t>
            </a:r>
            <a:r>
              <a:rPr lang="en-US" dirty="0"/>
              <a:t> from the user.</a:t>
            </a:r>
          </a:p>
          <a:p>
            <a:r>
              <a:rPr lang="en-US" dirty="0"/>
              <a:t>Java achieves this using the </a:t>
            </a:r>
            <a:r>
              <a:rPr lang="en-US" b="1" u="sng" dirty="0"/>
              <a:t>Scanner</a:t>
            </a:r>
            <a:r>
              <a:rPr lang="en-US" dirty="0"/>
              <a:t> object</a:t>
            </a:r>
          </a:p>
          <a:p>
            <a:r>
              <a:rPr lang="en-US" b="1" dirty="0"/>
              <a:t>Importing</a:t>
            </a:r>
            <a:r>
              <a:rPr lang="en-US" dirty="0"/>
              <a:t> packages allows java to use objects outside the base package</a:t>
            </a:r>
          </a:p>
        </p:txBody>
      </p:sp>
    </p:spTree>
    <p:extLst>
      <p:ext uri="{BB962C8B-B14F-4D97-AF65-F5344CB8AC3E}">
        <p14:creationId xmlns:p14="http://schemas.microsoft.com/office/powerpoint/2010/main" val="289771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29431-13EA-A8E9-05F1-BA3E5C912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9E03-66D7-1D0B-4160-121EDDCA4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 Reading input from the console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B8EA1-2846-959A-917D-D84D608AF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1535623"/>
            <a:ext cx="7849280" cy="44580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FD9F28-DB32-A1B7-2B39-74D23078E524}"/>
              </a:ext>
            </a:extLst>
          </p:cNvPr>
          <p:cNvSpPr txBox="1"/>
          <p:nvPr/>
        </p:nvSpPr>
        <p:spPr>
          <a:xfrm>
            <a:off x="8741916" y="1535623"/>
            <a:ext cx="28039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 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new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from a console</a:t>
            </a:r>
          </a:p>
        </p:txBody>
      </p:sp>
    </p:spTree>
    <p:extLst>
      <p:ext uri="{BB962C8B-B14F-4D97-AF65-F5344CB8AC3E}">
        <p14:creationId xmlns:p14="http://schemas.microsoft.com/office/powerpoint/2010/main" val="863133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40A0-0864-FAA2-5D6C-683382D6E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4C4C-2E9A-BBD4-CC16-D7AB9986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2.4 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5A4E2-984E-A55F-738B-44541A3EC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Identifiers are the names that identify the elements such as </a:t>
            </a:r>
            <a:r>
              <a:rPr lang="en-US" b="1" u="sng" dirty="0"/>
              <a:t>classes</a:t>
            </a:r>
            <a:r>
              <a:rPr lang="en-US" dirty="0"/>
              <a:t>, </a:t>
            </a:r>
            <a:r>
              <a:rPr lang="en-US" b="1" u="sng" dirty="0"/>
              <a:t>methods</a:t>
            </a:r>
            <a:r>
              <a:rPr lang="en-US" dirty="0"/>
              <a:t>, and </a:t>
            </a:r>
            <a:r>
              <a:rPr lang="en-US" b="1" u="sng" dirty="0"/>
              <a:t>variables</a:t>
            </a:r>
            <a:r>
              <a:rPr lang="en-US" dirty="0"/>
              <a:t> in a program.</a:t>
            </a:r>
          </a:p>
          <a:p>
            <a:r>
              <a:rPr lang="en-US" dirty="0"/>
              <a:t>An identifier is a sequence of characters that consists of </a:t>
            </a:r>
            <a:r>
              <a:rPr lang="en-US" b="1" dirty="0"/>
              <a:t>letters, digits, underscores (_), and dollar signs ($).</a:t>
            </a:r>
          </a:p>
          <a:p>
            <a:r>
              <a:rPr lang="en-US" dirty="0"/>
              <a:t>An identifier must start with a </a:t>
            </a:r>
            <a:r>
              <a:rPr lang="en-US" b="1" dirty="0"/>
              <a:t>letter</a:t>
            </a:r>
            <a:r>
              <a:rPr lang="en-US" dirty="0"/>
              <a:t>, an </a:t>
            </a:r>
            <a:r>
              <a:rPr lang="en-US" b="1" dirty="0"/>
              <a:t>underscore (_)</a:t>
            </a:r>
            <a:r>
              <a:rPr lang="en-US" dirty="0"/>
              <a:t>, or a </a:t>
            </a:r>
            <a:r>
              <a:rPr lang="en-US" b="1" dirty="0"/>
              <a:t>dollar sign ($)</a:t>
            </a:r>
            <a:r>
              <a:rPr lang="en-US" dirty="0"/>
              <a:t>. </a:t>
            </a:r>
            <a:r>
              <a:rPr lang="en-US" b="1" dirty="0">
                <a:solidFill>
                  <a:srgbClr val="FFC000"/>
                </a:solidFill>
              </a:rPr>
              <a:t>It cannot start with a digit</a:t>
            </a:r>
            <a:r>
              <a:rPr lang="en-US" dirty="0"/>
              <a:t>.</a:t>
            </a:r>
          </a:p>
          <a:p>
            <a:r>
              <a:rPr lang="en-US" dirty="0"/>
              <a:t>An identifier cannot be a reserved word. See Appendix A for a list of reserved words. </a:t>
            </a:r>
          </a:p>
          <a:p>
            <a:r>
              <a:rPr lang="en-US" dirty="0"/>
              <a:t>An identifier can be of any length.</a:t>
            </a:r>
          </a:p>
        </p:txBody>
      </p:sp>
    </p:spTree>
    <p:extLst>
      <p:ext uri="{BB962C8B-B14F-4D97-AF65-F5344CB8AC3E}">
        <p14:creationId xmlns:p14="http://schemas.microsoft.com/office/powerpoint/2010/main" val="4466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1E099-E6E5-FC6E-5FA2-23BA49388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1143-28A3-3514-3EFA-1801371A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9430"/>
          </a:xfrm>
        </p:spPr>
        <p:txBody>
          <a:bodyPr/>
          <a:lstStyle/>
          <a:p>
            <a:r>
              <a:rPr lang="en-US" dirty="0"/>
              <a:t>2.4 Identifiers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99A9A0-7532-4BBC-5CD1-10F33D8C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06" y="2390536"/>
            <a:ext cx="4938188" cy="3627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AE35B6-A60E-4E8F-6938-281A38519153}"/>
              </a:ext>
            </a:extLst>
          </p:cNvPr>
          <p:cNvSpPr txBox="1"/>
          <p:nvPr/>
        </p:nvSpPr>
        <p:spPr>
          <a:xfrm>
            <a:off x="3626906" y="1436232"/>
            <a:ext cx="4580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Java Reserved Words (Appendix A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A5FF4BD-7D48-7A4E-B538-63CF1D6A7E77}"/>
                  </a:ext>
                </a:extLst>
              </p14:cNvPr>
              <p14:cNvContentPartPr/>
              <p14:nvPr/>
            </p14:nvContentPartPr>
            <p14:xfrm>
              <a:off x="3727237" y="4760671"/>
              <a:ext cx="457200" cy="20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A5FF4BD-7D48-7A4E-B538-63CF1D6A7E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3237" y="4653031"/>
                <a:ext cx="5648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1C98F81-E857-F0BC-62EF-C44664D18F53}"/>
                  </a:ext>
                </a:extLst>
              </p14:cNvPr>
              <p14:cNvContentPartPr/>
              <p14:nvPr/>
            </p14:nvContentPartPr>
            <p14:xfrm>
              <a:off x="4879957" y="2639911"/>
              <a:ext cx="561600" cy="14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1C98F81-E857-F0BC-62EF-C44664D18F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26317" y="2531911"/>
                <a:ext cx="6692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E2CB9A5-4BF6-57DC-59FC-4905472BC7AF}"/>
                  </a:ext>
                </a:extLst>
              </p14:cNvPr>
              <p14:cNvContentPartPr/>
              <p14:nvPr/>
            </p14:nvContentPartPr>
            <p14:xfrm>
              <a:off x="4909477" y="3736471"/>
              <a:ext cx="516240" cy="40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E2CB9A5-4BF6-57DC-59FC-4905472BC7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55837" y="3628831"/>
                <a:ext cx="6238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898AB0C-7192-5A35-52C9-CBCFF8224D3B}"/>
                  </a:ext>
                </a:extLst>
              </p14:cNvPr>
              <p14:cNvContentPartPr/>
              <p14:nvPr/>
            </p14:nvContentPartPr>
            <p14:xfrm>
              <a:off x="4939717" y="4242991"/>
              <a:ext cx="427320" cy="21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898AB0C-7192-5A35-52C9-CBCFF8224D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85717" y="4135351"/>
                <a:ext cx="5349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5898FED-459C-704A-A988-2963ECD4181A}"/>
                  </a:ext>
                </a:extLst>
              </p14:cNvPr>
              <p14:cNvContentPartPr/>
              <p14:nvPr/>
            </p14:nvContentPartPr>
            <p14:xfrm>
              <a:off x="6161917" y="2653591"/>
              <a:ext cx="378360" cy="50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5898FED-459C-704A-A988-2963ECD4181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07917" y="2545591"/>
                <a:ext cx="4860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2670222-3253-4367-5E06-9CD1355EE6D6}"/>
                  </a:ext>
                </a:extLst>
              </p14:cNvPr>
              <p14:cNvContentPartPr/>
              <p14:nvPr/>
            </p14:nvContentPartPr>
            <p14:xfrm>
              <a:off x="4839997" y="5575351"/>
              <a:ext cx="567000" cy="40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2670222-3253-4367-5E06-9CD1355EE6D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85997" y="5467711"/>
                <a:ext cx="6746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24E3C81-201C-5764-D738-C35E48645319}"/>
                  </a:ext>
                </a:extLst>
              </p14:cNvPr>
              <p14:cNvContentPartPr/>
              <p14:nvPr/>
            </p14:nvContentPartPr>
            <p14:xfrm>
              <a:off x="6172357" y="3706951"/>
              <a:ext cx="28800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24E3C81-201C-5764-D738-C35E4864531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18357" y="3598951"/>
                <a:ext cx="3956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C71F6BC-0AB1-35E3-466B-1929655C8B1A}"/>
                  </a:ext>
                </a:extLst>
              </p14:cNvPr>
              <p14:cNvContentPartPr/>
              <p14:nvPr/>
            </p14:nvContentPartPr>
            <p14:xfrm>
              <a:off x="6172357" y="4740871"/>
              <a:ext cx="49608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C71F6BC-0AB1-35E3-466B-1929655C8B1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18357" y="4632871"/>
                <a:ext cx="603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76A2CE2-26CE-8539-9175-A99506887F16}"/>
                  </a:ext>
                </a:extLst>
              </p14:cNvPr>
              <p14:cNvContentPartPr/>
              <p14:nvPr/>
            </p14:nvContentPartPr>
            <p14:xfrm>
              <a:off x="6192157" y="5515591"/>
              <a:ext cx="486360" cy="21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76A2CE2-26CE-8539-9175-A99506887F1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38157" y="5407591"/>
                <a:ext cx="5940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FCBFD96-1168-52D2-7AE3-C20CAC535993}"/>
                  </a:ext>
                </a:extLst>
              </p14:cNvPr>
              <p14:cNvContentPartPr/>
              <p14:nvPr/>
            </p14:nvContentPartPr>
            <p14:xfrm>
              <a:off x="7444237" y="4750231"/>
              <a:ext cx="338400" cy="10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FCBFD96-1168-52D2-7AE3-C20CAC53599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90237" y="4642591"/>
                <a:ext cx="446040" cy="22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8086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F5202-19CF-F6E5-106C-B73C409A0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AF5C-605C-66B8-67C3-E169093E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9430"/>
          </a:xfrm>
        </p:spPr>
        <p:txBody>
          <a:bodyPr/>
          <a:lstStyle/>
          <a:p>
            <a:r>
              <a:rPr lang="en-US" dirty="0"/>
              <a:t>2.4 Identifiers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79FDD-1C5B-2B4F-D786-61CD3A41BA5E}"/>
              </a:ext>
            </a:extLst>
          </p:cNvPr>
          <p:cNvSpPr txBox="1"/>
          <p:nvPr/>
        </p:nvSpPr>
        <p:spPr>
          <a:xfrm>
            <a:off x="3626906" y="1436232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Find the identifiers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2EBA5-FFC2-F3AD-942C-96DA0C84C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35" y="1948720"/>
            <a:ext cx="7852329" cy="44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11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D6F9-C372-0049-03C5-BD931FDCC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8769-8914-5421-6519-D1258C11D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9430"/>
          </a:xfrm>
        </p:spPr>
        <p:txBody>
          <a:bodyPr/>
          <a:lstStyle/>
          <a:p>
            <a:r>
              <a:rPr lang="en-US" dirty="0"/>
              <a:t>2.4 Identifiers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CBA0A-CA04-F04B-094A-2233B5FE7D75}"/>
              </a:ext>
            </a:extLst>
          </p:cNvPr>
          <p:cNvSpPr txBox="1"/>
          <p:nvPr/>
        </p:nvSpPr>
        <p:spPr>
          <a:xfrm>
            <a:off x="3626906" y="1436232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Find the identifiers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D6E52-42B0-1FCE-75BA-B942FE616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35" y="1948720"/>
            <a:ext cx="7852329" cy="44565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857822-D515-A961-6E5F-A7E15D0A5EB4}"/>
              </a:ext>
            </a:extLst>
          </p:cNvPr>
          <p:cNvSpPr/>
          <p:nvPr/>
        </p:nvSpPr>
        <p:spPr>
          <a:xfrm>
            <a:off x="2564296" y="2395330"/>
            <a:ext cx="2077278" cy="218661"/>
          </a:xfrm>
          <a:prstGeom prst="rect">
            <a:avLst/>
          </a:prstGeom>
          <a:solidFill>
            <a:srgbClr val="ACD433">
              <a:alpha val="3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752CBC-4CE5-6C50-6F9B-AB541D3F6072}"/>
              </a:ext>
            </a:extLst>
          </p:cNvPr>
          <p:cNvSpPr/>
          <p:nvPr/>
        </p:nvSpPr>
        <p:spPr>
          <a:xfrm>
            <a:off x="2716696" y="3060601"/>
            <a:ext cx="910210" cy="152400"/>
          </a:xfrm>
          <a:prstGeom prst="rect">
            <a:avLst/>
          </a:prstGeom>
          <a:solidFill>
            <a:srgbClr val="ACD433">
              <a:alpha val="3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DC728E-D9B5-7BCD-1545-FB58C9684CDE}"/>
              </a:ext>
            </a:extLst>
          </p:cNvPr>
          <p:cNvSpPr/>
          <p:nvPr/>
        </p:nvSpPr>
        <p:spPr>
          <a:xfrm>
            <a:off x="2796123" y="3645000"/>
            <a:ext cx="404277" cy="196318"/>
          </a:xfrm>
          <a:prstGeom prst="rect">
            <a:avLst/>
          </a:prstGeom>
          <a:solidFill>
            <a:srgbClr val="ACD433">
              <a:alpha val="3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7B358C-5FA8-62BE-619B-C4135825AF28}"/>
              </a:ext>
            </a:extLst>
          </p:cNvPr>
          <p:cNvSpPr/>
          <p:nvPr/>
        </p:nvSpPr>
        <p:spPr>
          <a:xfrm>
            <a:off x="3271194" y="2659628"/>
            <a:ext cx="355712" cy="152400"/>
          </a:xfrm>
          <a:prstGeom prst="rect">
            <a:avLst/>
          </a:prstGeom>
          <a:solidFill>
            <a:srgbClr val="ACD433">
              <a:alpha val="3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80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0F33-D6FB-BE8C-A5AE-B13F550C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20FA-64B4-2471-DCEE-D259DF69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9430"/>
          </a:xfrm>
        </p:spPr>
        <p:txBody>
          <a:bodyPr/>
          <a:lstStyle/>
          <a:p>
            <a:r>
              <a:rPr lang="en-US" dirty="0"/>
              <a:t>2.4 Identifiers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C3C48-7957-FA09-8563-DC8D0727DBC3}"/>
              </a:ext>
            </a:extLst>
          </p:cNvPr>
          <p:cNvSpPr txBox="1"/>
          <p:nvPr/>
        </p:nvSpPr>
        <p:spPr>
          <a:xfrm>
            <a:off x="3626906" y="1436232"/>
            <a:ext cx="2593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Valid or Invalid?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D5574-F1F1-17B5-CEC0-3B4A47231611}"/>
              </a:ext>
            </a:extLst>
          </p:cNvPr>
          <p:cNvSpPr txBox="1"/>
          <p:nvPr/>
        </p:nvSpPr>
        <p:spPr>
          <a:xfrm>
            <a:off x="1759227" y="2532894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FFFF00"/>
                </a:solidFill>
              </a:rPr>
              <a:t>resultSet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DC841E-2972-EBDC-9750-4176C746799B}"/>
              </a:ext>
            </a:extLst>
          </p:cNvPr>
          <p:cNvSpPr txBox="1"/>
          <p:nvPr/>
        </p:nvSpPr>
        <p:spPr>
          <a:xfrm>
            <a:off x="1759227" y="3190461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</a:t>
            </a:r>
            <a:r>
              <a:rPr lang="en-US" b="1" dirty="0" err="1">
                <a:solidFill>
                  <a:srgbClr val="FFFF00"/>
                </a:solidFill>
              </a:rPr>
              <a:t>resultSet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F148A-F2F3-F003-29EB-BD011430074A}"/>
              </a:ext>
            </a:extLst>
          </p:cNvPr>
          <p:cNvSpPr txBox="1"/>
          <p:nvPr/>
        </p:nvSpPr>
        <p:spPr>
          <a:xfrm>
            <a:off x="1773296" y="3968306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0results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12E6E2-C6CC-97DD-1B08-AFE85BDD769C}"/>
              </a:ext>
            </a:extLst>
          </p:cNvPr>
          <p:cNvSpPr txBox="1"/>
          <p:nvPr/>
        </p:nvSpPr>
        <p:spPr>
          <a:xfrm>
            <a:off x="4397122" y="2647748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**</a:t>
            </a:r>
            <a:r>
              <a:rPr lang="en-US" b="1" dirty="0">
                <a:solidFill>
                  <a:srgbClr val="FFFF00"/>
                </a:solidFill>
              </a:rPr>
              <a:t>999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90EBE5-20A6-ABFA-ED1E-1BE14AAD3976}"/>
              </a:ext>
            </a:extLst>
          </p:cNvPr>
          <p:cNvSpPr txBox="1"/>
          <p:nvPr/>
        </p:nvSpPr>
        <p:spPr>
          <a:xfrm>
            <a:off x="4397122" y="3190461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attempt3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136D5B-4C7C-5CCF-328E-C54E2FE5B313}"/>
              </a:ext>
            </a:extLst>
          </p:cNvPr>
          <p:cNvSpPr txBox="1"/>
          <p:nvPr/>
        </p:nvSpPr>
        <p:spPr>
          <a:xfrm>
            <a:off x="4385758" y="3906555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</a:t>
            </a:r>
            <a:r>
              <a:rPr lang="en-US" b="1" dirty="0">
                <a:solidFill>
                  <a:srgbClr val="FFFF00"/>
                </a:solidFill>
              </a:rPr>
              <a:t>capture</a:t>
            </a:r>
          </a:p>
        </p:txBody>
      </p:sp>
    </p:spTree>
    <p:extLst>
      <p:ext uri="{BB962C8B-B14F-4D97-AF65-F5344CB8AC3E}">
        <p14:creationId xmlns:p14="http://schemas.microsoft.com/office/powerpoint/2010/main" val="324781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4775C-D5FE-E46B-0A0E-5598BE661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7D88-D5A6-26D8-4379-C4542FB29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9430"/>
          </a:xfrm>
        </p:spPr>
        <p:txBody>
          <a:bodyPr/>
          <a:lstStyle/>
          <a:p>
            <a:r>
              <a:rPr lang="en-US" dirty="0"/>
              <a:t>2.5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4288-348C-E06C-45D2-A6B29F6EC0CB}"/>
              </a:ext>
            </a:extLst>
          </p:cNvPr>
          <p:cNvSpPr txBox="1"/>
          <p:nvPr/>
        </p:nvSpPr>
        <p:spPr>
          <a:xfrm>
            <a:off x="1133061" y="2176670"/>
            <a:ext cx="1094717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FF00"/>
              </a:buClr>
              <a:buSzPct val="102000"/>
              <a:buFont typeface="Wingdings" panose="05000000000000000000" pitchFamily="2" charset="2"/>
              <a:buChar char="v"/>
            </a:pPr>
            <a:r>
              <a:rPr lang="en-US" sz="2800" b="1" dirty="0"/>
              <a:t>Variables</a:t>
            </a:r>
            <a:r>
              <a:rPr lang="en-US" sz="2800" dirty="0"/>
              <a:t> are used to represent values that may be changed in the program.</a:t>
            </a:r>
          </a:p>
          <a:p>
            <a:pPr marL="285750" indent="-285750">
              <a:buClr>
                <a:srgbClr val="FFFF00"/>
              </a:buClr>
              <a:buSzPct val="102000"/>
              <a:buFont typeface="Wingdings" panose="05000000000000000000" pitchFamily="2" charset="2"/>
              <a:buChar char="v"/>
            </a:pPr>
            <a:r>
              <a:rPr lang="en-US" sz="2800" dirty="0"/>
              <a:t>A variable must be </a:t>
            </a:r>
            <a:r>
              <a:rPr lang="en-US" sz="2800" b="1" u="sng" dirty="0"/>
              <a:t>declared</a:t>
            </a:r>
            <a:r>
              <a:rPr lang="en-US" sz="2800" dirty="0"/>
              <a:t> before it can be assigned a value.</a:t>
            </a:r>
          </a:p>
          <a:p>
            <a:pPr marL="285750" indent="-285750">
              <a:buClr>
                <a:srgbClr val="FFFF00"/>
              </a:buClr>
              <a:buSzPct val="102000"/>
              <a:buFont typeface="Wingdings" panose="05000000000000000000" pitchFamily="2" charset="2"/>
              <a:buChar char="v"/>
            </a:pPr>
            <a:r>
              <a:rPr lang="en-US" sz="2800" dirty="0"/>
              <a:t>Whenever possible, declare a variable and assign its initial value in one step. This will make the program easy to read and avoid programming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123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B78F-3DCA-5023-CA2D-227923A7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DFF6E-4EC2-0946-FDEE-24127F4D4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9430"/>
          </a:xfrm>
        </p:spPr>
        <p:txBody>
          <a:bodyPr/>
          <a:lstStyle/>
          <a:p>
            <a:r>
              <a:rPr lang="en-US" dirty="0"/>
              <a:t>2.5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0AFFF-1BE8-B694-1378-FFEE9A5CD1DF}"/>
              </a:ext>
            </a:extLst>
          </p:cNvPr>
          <p:cNvSpPr txBox="1"/>
          <p:nvPr/>
        </p:nvSpPr>
        <p:spPr>
          <a:xfrm>
            <a:off x="1152939" y="2932044"/>
            <a:ext cx="1094717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</a:rPr>
              <a:t>1  public class Test {</a:t>
            </a: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</a:rPr>
              <a:t>2    public static void main(String[] </a:t>
            </a:r>
            <a:r>
              <a:rPr lang="en-US" sz="2800" dirty="0" err="1">
                <a:latin typeface="Courier New" panose="02070309020205020404" pitchFamily="49" charset="0"/>
              </a:rPr>
              <a:t>args</a:t>
            </a:r>
            <a:r>
              <a:rPr lang="en-US" sz="2800" dirty="0">
                <a:latin typeface="Courier New" panose="02070309020205020404" pitchFamily="49" charset="0"/>
              </a:rPr>
              <a:t>) {</a:t>
            </a: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</a:rPr>
              <a:t>3      int </a:t>
            </a:r>
            <a:r>
              <a:rPr lang="en-US" sz="2800" dirty="0" err="1">
                <a:latin typeface="Courier New" panose="02070309020205020404" pitchFamily="49" charset="0"/>
              </a:rPr>
              <a:t>i</a:t>
            </a:r>
            <a:r>
              <a:rPr lang="en-US" sz="2800" dirty="0">
                <a:latin typeface="Courier New" panose="02070309020205020404" pitchFamily="49" charset="0"/>
              </a:rPr>
              <a:t> = k + 2;</a:t>
            </a: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</a:rPr>
              <a:t>4      </a:t>
            </a:r>
            <a:r>
              <a:rPr lang="en-US" sz="2800" dirty="0" err="1">
                <a:latin typeface="Courier New" panose="02070309020205020404" pitchFamily="49" charset="0"/>
              </a:rPr>
              <a:t>System.out.println</a:t>
            </a:r>
            <a:r>
              <a:rPr lang="en-US" sz="2800" dirty="0"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</a:rPr>
              <a:t>i</a:t>
            </a:r>
            <a:r>
              <a:rPr lang="en-US" sz="2800" dirty="0"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</a:rPr>
              <a:t>5    }</a:t>
            </a: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</a:rPr>
              <a:t>6 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04D93-05FC-51AA-AD90-3BF4EFE5C24E}"/>
              </a:ext>
            </a:extLst>
          </p:cNvPr>
          <p:cNvSpPr txBox="1"/>
          <p:nvPr/>
        </p:nvSpPr>
        <p:spPr>
          <a:xfrm>
            <a:off x="3737113" y="1490870"/>
            <a:ext cx="36968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Find the Error</a:t>
            </a:r>
          </a:p>
        </p:txBody>
      </p:sp>
    </p:spTree>
    <p:extLst>
      <p:ext uri="{BB962C8B-B14F-4D97-AF65-F5344CB8AC3E}">
        <p14:creationId xmlns:p14="http://schemas.microsoft.com/office/powerpoint/2010/main" val="2195137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6393B-C453-615F-77E7-81073071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A558-F245-081A-6F55-635EDEBC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2.6 Assignment statements and Assignment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EB76-F456-70AC-903D-78ED0BE3E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700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assignment statement assigns a value to a variable. An assignment statement can also be used as an expression in Java.</a:t>
            </a:r>
          </a:p>
          <a:p>
            <a:r>
              <a:rPr lang="en-US" b="1" dirty="0">
                <a:solidFill>
                  <a:srgbClr val="FFFF00"/>
                </a:solidFill>
              </a:rPr>
              <a:t>“ = “ </a:t>
            </a:r>
            <a:r>
              <a:rPr lang="en-US" dirty="0"/>
              <a:t>is the assignment operator in Java</a:t>
            </a:r>
          </a:p>
          <a:p>
            <a:r>
              <a:rPr lang="en-US" dirty="0"/>
              <a:t>An </a:t>
            </a:r>
            <a:r>
              <a:rPr lang="en-US" b="1" dirty="0">
                <a:solidFill>
                  <a:srgbClr val="FFFF00"/>
                </a:solidFill>
              </a:rPr>
              <a:t>expression</a:t>
            </a:r>
            <a:r>
              <a:rPr lang="en-US" dirty="0"/>
              <a:t> represents a computation involving values, variables, and operators that, taking them together, evaluates to a value.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F231C8-63E9-BA9D-CBAE-B107E44B1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087" y="3879346"/>
            <a:ext cx="5890770" cy="1425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BE157E-37E0-38D5-3D8B-6708F1913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087" y="5531771"/>
            <a:ext cx="2255715" cy="396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F5E979-8436-6CE0-E3D6-6AFBF5E84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3087" y="6155408"/>
            <a:ext cx="1569856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947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AD55-30DE-5B9F-AC48-2ADDE085D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06D8-2487-6D6E-38A0-295278A7C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2.7 Named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4B347-66DA-A2F0-00C6-E11D39CA5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700375"/>
          </a:xfrm>
        </p:spPr>
        <p:txBody>
          <a:bodyPr>
            <a:normAutofit/>
          </a:bodyPr>
          <a:lstStyle/>
          <a:p>
            <a:r>
              <a:rPr lang="en-US" dirty="0"/>
              <a:t>A named </a:t>
            </a:r>
            <a:r>
              <a:rPr lang="en-US" b="1" u="sng" dirty="0">
                <a:solidFill>
                  <a:srgbClr val="FFFF00"/>
                </a:solidFill>
              </a:rPr>
              <a:t>constant</a:t>
            </a:r>
            <a:r>
              <a:rPr lang="en-US" dirty="0"/>
              <a:t> is an </a:t>
            </a:r>
            <a:r>
              <a:rPr lang="en-US" i="1" dirty="0"/>
              <a:t>identifier</a:t>
            </a:r>
            <a:r>
              <a:rPr lang="en-US" dirty="0"/>
              <a:t> that represents a </a:t>
            </a:r>
            <a:r>
              <a:rPr lang="en-US" b="1" u="sng" dirty="0"/>
              <a:t>permanent</a:t>
            </a:r>
            <a:r>
              <a:rPr lang="en-US" dirty="0"/>
              <a:t> value.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FFFF00"/>
                </a:solidFill>
              </a:rPr>
              <a:t>constant</a:t>
            </a:r>
            <a:r>
              <a:rPr lang="en-US" dirty="0"/>
              <a:t> must be declared and </a:t>
            </a:r>
            <a:r>
              <a:rPr lang="en-US" i="1" dirty="0"/>
              <a:t>initialized</a:t>
            </a:r>
            <a:r>
              <a:rPr lang="en-US" dirty="0"/>
              <a:t> in the same statement. The word </a:t>
            </a:r>
            <a:r>
              <a:rPr lang="en-US" b="1" u="sng" dirty="0"/>
              <a:t>final</a:t>
            </a:r>
            <a:r>
              <a:rPr lang="en-US" dirty="0"/>
              <a:t> is a Java keyword for declaring a constant.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C66FF0-C030-1FD6-D6B9-2A0875F0A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133" y="4377672"/>
            <a:ext cx="3200677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9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428F-BDA8-99EB-CDCD-4482E29B4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4ADE-0B1A-FA8D-2C7D-87BD0D46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2.8 Naming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5BF32-65AC-BF96-FBBD-22E3E870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95031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Sticking with the Java </a:t>
            </a:r>
            <a:r>
              <a:rPr lang="en-US" b="1" u="sng" dirty="0"/>
              <a:t>naming conventions </a:t>
            </a:r>
            <a:r>
              <a:rPr lang="en-US" dirty="0"/>
              <a:t>makes your programs easy to read and avoids errors.</a:t>
            </a:r>
          </a:p>
          <a:p>
            <a:r>
              <a:rPr lang="en-US" dirty="0"/>
              <a:t>Choose descriptive names with straightforward meanings for the variables, constants, classes, and methods in your program.</a:t>
            </a:r>
          </a:p>
          <a:p>
            <a:pPr lvl="1"/>
            <a:r>
              <a:rPr lang="en-US" dirty="0"/>
              <a:t>Use lowercase for variables and methods—for example, the variables  and , and the method . If a name consists of several words, concatenate them into one, making the first word lowercase and capitalizing the first letter of each subsequent word—for example, the variable . This naming style is known as the camelCase because the uppercase characters in the name resemble a camel’s humps.</a:t>
            </a:r>
          </a:p>
          <a:p>
            <a:pPr lvl="1"/>
            <a:r>
              <a:rPr lang="en-US" dirty="0"/>
              <a:t>Capitalize the first letter of each word in a class name—for example, the class names  and .</a:t>
            </a:r>
          </a:p>
          <a:p>
            <a:pPr lvl="1"/>
            <a:r>
              <a:rPr lang="en-US" dirty="0"/>
              <a:t>Capitalize every letter in a constant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23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AE2A8-E219-3DD5-D01A-B66314E8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C500-C4BB-3F10-9888-A0A043256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2.8 Numeric Data Types and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A2798-ACBD-FD8D-F9BA-62E342F21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889065"/>
          </a:xfrm>
        </p:spPr>
        <p:txBody>
          <a:bodyPr>
            <a:normAutofit/>
          </a:bodyPr>
          <a:lstStyle/>
          <a:p>
            <a:r>
              <a:rPr lang="en-US" dirty="0"/>
              <a:t>Java has six numeric types for integers and floating-point numbers with operators +, -, *, /, and %.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88273B-5347-D005-EED1-61C2C3A6F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980" y="2786246"/>
            <a:ext cx="5881698" cy="390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29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5D8B-8FEA-A41B-DFE5-F0B67487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1A33-3C50-F1F0-1A7C-3EA8FEAB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2.9.2 Numeric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210F-0F40-8161-3BAE-A89E9D579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889065"/>
          </a:xfrm>
        </p:spPr>
        <p:txBody>
          <a:bodyPr>
            <a:normAutofit/>
          </a:bodyPr>
          <a:lstStyle/>
          <a:p>
            <a:r>
              <a:rPr lang="en-US" dirty="0"/>
              <a:t>Java has six numeric types for integers and floating-point numbers with operators +, -, *, /, and %.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2EDFD2-DC7A-8C65-F599-4975B2F2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052" y="3225785"/>
            <a:ext cx="6690940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36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87730-7519-37D0-EEA8-9A8AA491E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4331-422D-D4BC-7C86-8F05CE80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2.9.3 Exponent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255C9-D575-6310-C1DB-6B4D19597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889065"/>
          </a:xfrm>
        </p:spPr>
        <p:txBody>
          <a:bodyPr>
            <a:normAutofit/>
          </a:bodyPr>
          <a:lstStyle/>
          <a:p>
            <a:r>
              <a:rPr lang="en-US" dirty="0" err="1"/>
              <a:t>Math.pow</a:t>
            </a:r>
            <a:r>
              <a:rPr lang="en-US" dirty="0"/>
              <a:t>(a, b) raises a to the b power.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7BAF0-0267-106B-D9E7-C7A0C67B9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804" y="3073935"/>
            <a:ext cx="6569009" cy="16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05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F0622-2596-E705-AB6E-893E1A6D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BD05-2287-D73E-5D37-FBF6AB7E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2.10 Numeric 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928AF-AF42-FFAC-2C8E-DB7074D23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889065"/>
          </a:xfrm>
        </p:spPr>
        <p:txBody>
          <a:bodyPr>
            <a:normAutofit/>
          </a:bodyPr>
          <a:lstStyle/>
          <a:p>
            <a:r>
              <a:rPr lang="en-US" dirty="0"/>
              <a:t>A literal is a constant value that appears directly in a program.</a:t>
            </a:r>
          </a:p>
          <a:p>
            <a:r>
              <a:rPr lang="en-US" dirty="0"/>
              <a:t>Can be used for all numeric datatypes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D8247-5F5E-8786-5BCA-D771123C7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68" y="4287235"/>
            <a:ext cx="6957663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80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0BEB7-615A-C655-57D9-F81F3C93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77C7E-BA7E-5BC7-7959-2BD32634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2.11 </a:t>
            </a:r>
            <a:r>
              <a:rPr lang="en-US" dirty="0" err="1"/>
              <a:t>JShell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AE5B0-4CEF-D4C2-D43D-D2792D4F2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984467"/>
            <a:ext cx="8946541" cy="889065"/>
          </a:xfrm>
        </p:spPr>
        <p:txBody>
          <a:bodyPr>
            <a:normAutofit/>
          </a:bodyPr>
          <a:lstStyle/>
          <a:p>
            <a:r>
              <a:rPr lang="en-US" dirty="0"/>
              <a:t>Can be launched from the command line</a:t>
            </a:r>
          </a:p>
          <a:p>
            <a:r>
              <a:rPr lang="en-US" dirty="0"/>
              <a:t>Integrated into IntelliJ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DE8ED-8D64-86B7-F3C9-27570115B881}"/>
              </a:ext>
            </a:extLst>
          </p:cNvPr>
          <p:cNvSpPr txBox="1"/>
          <p:nvPr/>
        </p:nvSpPr>
        <p:spPr>
          <a:xfrm>
            <a:off x="802584" y="1336218"/>
            <a:ext cx="94047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FFFF00"/>
                </a:solidFill>
              </a:rPr>
              <a:t>JShell</a:t>
            </a:r>
            <a:r>
              <a:rPr lang="en-US" sz="2400" dirty="0">
                <a:solidFill>
                  <a:srgbClr val="FFFF00"/>
                </a:solidFill>
              </a:rPr>
              <a:t> is a command line tool for quickly evaluating an expression and executing a statement.</a:t>
            </a:r>
          </a:p>
        </p:txBody>
      </p:sp>
    </p:spTree>
    <p:extLst>
      <p:ext uri="{BB962C8B-B14F-4D97-AF65-F5344CB8AC3E}">
        <p14:creationId xmlns:p14="http://schemas.microsoft.com/office/powerpoint/2010/main" val="2089953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4847-6AC6-1BB3-9524-AB2C0CE0D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92108-89F4-8E5E-158D-1681C153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2.12 Evaluating Expressions and Operator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7AD9-9FFA-9BD8-A60D-6B8F942DF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805082"/>
          </a:xfrm>
        </p:spPr>
        <p:txBody>
          <a:bodyPr>
            <a:normAutofit/>
          </a:bodyPr>
          <a:lstStyle/>
          <a:p>
            <a:r>
              <a:rPr lang="en-US" dirty="0"/>
              <a:t>Java expressions are evaluated in the same way as arithmetic expressions.</a:t>
            </a:r>
          </a:p>
          <a:p>
            <a:pPr lvl="1"/>
            <a:r>
              <a:rPr lang="en-US" sz="1200" dirty="0"/>
              <a:t>Multiplication, division, and remainder operators are applied first. If an expression contains several multiplication, division, and remainder operators, they are applied from left to right.</a:t>
            </a:r>
          </a:p>
          <a:p>
            <a:pPr lvl="1"/>
            <a:r>
              <a:rPr lang="en-US" sz="1200" dirty="0"/>
              <a:t>Addition and subtraction operators are applied last. If an expression contains several addition and subtraction operators, they are applied from left to right.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0DD47-1D55-2697-E321-3F6163BC6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716" y="3916018"/>
            <a:ext cx="6271803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30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92FD-8BDA-31FD-A5B7-0991ADED2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5C93-8DD6-56BE-5D4D-ADF9EABB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2.14 Augmented Assignment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3F756-51AA-33FC-BBDB-0D21F7C31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791718"/>
          </a:xfrm>
        </p:spPr>
        <p:txBody>
          <a:bodyPr>
            <a:normAutofit/>
          </a:bodyPr>
          <a:lstStyle/>
          <a:p>
            <a:r>
              <a:rPr lang="en-US" dirty="0"/>
              <a:t>The operators </a:t>
            </a:r>
            <a:r>
              <a:rPr lang="en-US" dirty="0">
                <a:solidFill>
                  <a:srgbClr val="FFFF00"/>
                </a:solidFill>
              </a:rPr>
              <a:t>+</a:t>
            </a:r>
            <a:r>
              <a:rPr lang="en-US" dirty="0"/>
              <a:t>, </a:t>
            </a:r>
            <a:r>
              <a:rPr lang="en-US" dirty="0">
                <a:solidFill>
                  <a:srgbClr val="FFFF00"/>
                </a:solidFill>
              </a:rPr>
              <a:t>- </a:t>
            </a:r>
            <a:r>
              <a:rPr lang="en-US" dirty="0"/>
              <a:t>, </a:t>
            </a:r>
            <a:r>
              <a:rPr lang="en-US" dirty="0">
                <a:solidFill>
                  <a:srgbClr val="FFFF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FF00"/>
                </a:solidFill>
              </a:rPr>
              <a:t>/</a:t>
            </a:r>
            <a:r>
              <a:rPr lang="en-US" dirty="0"/>
              <a:t> and </a:t>
            </a:r>
            <a:r>
              <a:rPr lang="en-US" dirty="0">
                <a:solidFill>
                  <a:srgbClr val="FFFF00"/>
                </a:solidFill>
              </a:rPr>
              <a:t>% </a:t>
            </a:r>
            <a:r>
              <a:rPr lang="en-US" dirty="0"/>
              <a:t>can be combined with the assignment operator to form augmented operators.</a:t>
            </a:r>
          </a:p>
          <a:p>
            <a:r>
              <a:rPr lang="en-US" dirty="0"/>
              <a:t>Java allows you to combine assignment and addition operators using an augmented (or compound) assignment operator.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09297-38A7-088F-6449-CE07BC2C4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949" y="3684602"/>
            <a:ext cx="2103302" cy="3200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7036D3-761D-4428-EDF0-2E0496E3F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949" y="4297666"/>
            <a:ext cx="1165961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057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4F989-6915-DC9F-10F7-5D2DCBF8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5E2C1-C4B2-DD7C-4523-35D50420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2.14 Evaluating Expressions and Operator Precedence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1755D0-548A-EA01-9CF1-62E421469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21717" y="2703283"/>
            <a:ext cx="6751905" cy="29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38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C6741-74DC-ADF7-79E7-AC9EDC9B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58651-6FD0-C6F1-28E7-ED22BE753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2.14 Evaluating Expressions and Operator Precedence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15A94-C8B9-E940-DD0E-21A9333A3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939664"/>
          </a:xfrm>
        </p:spPr>
        <p:txBody>
          <a:bodyPr/>
          <a:lstStyle/>
          <a:p>
            <a:r>
              <a:rPr lang="en-US" dirty="0"/>
              <a:t>The augmented assignment operator is </a:t>
            </a:r>
            <a:r>
              <a:rPr lang="en-US" b="1" u="sng" dirty="0"/>
              <a:t>performed last </a:t>
            </a:r>
            <a:r>
              <a:rPr lang="en-US" dirty="0"/>
              <a:t>after all the other operators in the expression are evaluated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371A1-1679-BCAD-A188-2EA3ED297EA1}"/>
              </a:ext>
            </a:extLst>
          </p:cNvPr>
          <p:cNvSpPr txBox="1"/>
          <p:nvPr/>
        </p:nvSpPr>
        <p:spPr>
          <a:xfrm>
            <a:off x="1239283" y="3553691"/>
            <a:ext cx="3413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x /= 4 + 5.5 * 1.5;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5C98A-F9C0-8617-49C7-11A097252FC9}"/>
              </a:ext>
            </a:extLst>
          </p:cNvPr>
          <p:cNvSpPr txBox="1"/>
          <p:nvPr/>
        </p:nvSpPr>
        <p:spPr>
          <a:xfrm>
            <a:off x="6397336" y="3532909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</a:rPr>
              <a:t>x = x / (4 + 5.5 * 1.5);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C9799B2-D80F-0FFB-8CD8-4B612BC33FF8}"/>
              </a:ext>
            </a:extLst>
          </p:cNvPr>
          <p:cNvSpPr/>
          <p:nvPr/>
        </p:nvSpPr>
        <p:spPr>
          <a:xfrm>
            <a:off x="4901046" y="3590058"/>
            <a:ext cx="1194954" cy="347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8A1448-E434-4A64-700F-AFC2B5750038}"/>
              </a:ext>
            </a:extLst>
          </p:cNvPr>
          <p:cNvSpPr txBox="1"/>
          <p:nvPr/>
        </p:nvSpPr>
        <p:spPr>
          <a:xfrm>
            <a:off x="3008097" y="4672244"/>
            <a:ext cx="4980851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Consolas" panose="020B0609020204030204" pitchFamily="49" charset="0"/>
              </a:rPr>
              <a:t>double x = 50;</a:t>
            </a:r>
          </a:p>
          <a:p>
            <a:r>
              <a:rPr lang="en-US" sz="2000" dirty="0">
                <a:solidFill>
                  <a:srgbClr val="FFFF00"/>
                </a:solidFill>
                <a:latin typeface="Consolas" panose="020B0609020204030204" pitchFamily="49" charset="0"/>
              </a:rPr>
              <a:t>x /= 4 + 5.5 * 1.5;</a:t>
            </a:r>
          </a:p>
          <a:p>
            <a:r>
              <a:rPr lang="en-US" sz="2000" dirty="0" err="1">
                <a:solidFill>
                  <a:srgbClr val="FFFF00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2000" dirty="0">
                <a:solidFill>
                  <a:srgbClr val="FFFF00"/>
                </a:solidFill>
                <a:latin typeface="Consolas" panose="020B0609020204030204" pitchFamily="49" charset="0"/>
              </a:rPr>
              <a:t>(“result “ + x);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882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97B60-F3CA-91DF-09F3-020C356F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E441-29D3-5803-E7EA-EA9DA6D4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2.15 Increment and Decrement 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C0C6D-E8F5-6925-7C65-07328E17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1853248"/>
            <a:ext cx="8946541" cy="12617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increment operator </a:t>
            </a:r>
            <a:r>
              <a:rPr lang="en-US" b="1" dirty="0">
                <a:solidFill>
                  <a:srgbClr val="FFFF00"/>
                </a:solidFill>
              </a:rPr>
              <a:t>(+ +) </a:t>
            </a:r>
            <a:r>
              <a:rPr lang="en-US" dirty="0"/>
              <a:t>and decrement operator </a:t>
            </a:r>
            <a:r>
              <a:rPr lang="en-US" b="1" dirty="0">
                <a:solidFill>
                  <a:srgbClr val="FFFF00"/>
                </a:solidFill>
              </a:rPr>
              <a:t>(- -) </a:t>
            </a:r>
            <a:r>
              <a:rPr lang="en-US" dirty="0"/>
              <a:t>are for incrementing and decrementing a variable by 1.</a:t>
            </a:r>
          </a:p>
          <a:p>
            <a:r>
              <a:rPr lang="en-US" b="1" dirty="0">
                <a:solidFill>
                  <a:srgbClr val="FFFF00"/>
                </a:solidFill>
              </a:rPr>
              <a:t>Postfix</a:t>
            </a:r>
            <a:r>
              <a:rPr lang="en-US" dirty="0"/>
              <a:t> operations are pronounced as “</a:t>
            </a:r>
            <a:r>
              <a:rPr lang="en-US" dirty="0" err="1"/>
              <a:t>i</a:t>
            </a:r>
            <a:r>
              <a:rPr lang="en-US" dirty="0"/>
              <a:t> plus </a:t>
            </a:r>
            <a:r>
              <a:rPr lang="en-US" dirty="0" err="1"/>
              <a:t>plus</a:t>
            </a:r>
            <a:r>
              <a:rPr lang="en-US" dirty="0"/>
              <a:t>” or “</a:t>
            </a:r>
            <a:r>
              <a:rPr lang="en-US" dirty="0" err="1"/>
              <a:t>i</a:t>
            </a:r>
            <a:r>
              <a:rPr lang="en-US" dirty="0"/>
              <a:t> minus </a:t>
            </a:r>
            <a:r>
              <a:rPr lang="en-US" dirty="0" err="1"/>
              <a:t>minus</a:t>
            </a:r>
            <a:r>
              <a:rPr lang="en-US" dirty="0"/>
              <a:t>”</a:t>
            </a:r>
          </a:p>
          <a:p>
            <a:r>
              <a:rPr lang="en-US" b="1" dirty="0">
                <a:solidFill>
                  <a:srgbClr val="FFFF00"/>
                </a:solidFill>
              </a:rPr>
              <a:t>Prefix</a:t>
            </a:r>
            <a:r>
              <a:rPr lang="en-US" dirty="0"/>
              <a:t> operations evaluate first and updates the variable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768DAC-B44E-E104-7461-A745FEA64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974" y="3429000"/>
            <a:ext cx="6645216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672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07B4-188C-2516-5AEA-9CA5EFE64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1F38F-30B8-8323-3046-2DCFEC7E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2.15 Increment and Decrement Operators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E1C846-2934-BE98-559F-65D28488A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289" y="1990816"/>
            <a:ext cx="6721422" cy="19204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BD004-655B-9F55-6A26-AAC305450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289" y="4567760"/>
            <a:ext cx="6721422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92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E63AA-5A8E-5ADD-79A2-4F3495C6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F6F9-79D1-D533-6768-725E1E45B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2.15 Increment and Decrement Operators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C80B3-0139-A2E9-338E-F4125259E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642" y="2248877"/>
            <a:ext cx="6614733" cy="14250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7896CB-00FD-EFDA-F9F2-92A49884D507}"/>
              </a:ext>
            </a:extLst>
          </p:cNvPr>
          <p:cNvSpPr txBox="1"/>
          <p:nvPr/>
        </p:nvSpPr>
        <p:spPr>
          <a:xfrm>
            <a:off x="2712027" y="4447309"/>
            <a:ext cx="156485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Consolas" panose="020B0609020204030204" pitchFamily="49" charset="0"/>
              </a:rPr>
              <a:t>x = 0.0</a:t>
            </a:r>
          </a:p>
          <a:p>
            <a:r>
              <a:rPr lang="en-US" sz="2800" dirty="0">
                <a:solidFill>
                  <a:srgbClr val="FFFF00"/>
                </a:solidFill>
                <a:latin typeface="Consolas" panose="020B0609020204030204" pitchFamily="49" charset="0"/>
              </a:rPr>
              <a:t>y = 6.0</a:t>
            </a:r>
          </a:p>
          <a:p>
            <a:r>
              <a:rPr lang="en-US" sz="2800" dirty="0">
                <a:solidFill>
                  <a:srgbClr val="FFFF00"/>
                </a:solidFill>
                <a:latin typeface="Consolas" panose="020B0609020204030204" pitchFamily="49" charset="0"/>
              </a:rPr>
              <a:t>z = 7.0</a:t>
            </a:r>
          </a:p>
        </p:txBody>
      </p:sp>
    </p:spTree>
    <p:extLst>
      <p:ext uri="{BB962C8B-B14F-4D97-AF65-F5344CB8AC3E}">
        <p14:creationId xmlns:p14="http://schemas.microsoft.com/office/powerpoint/2010/main" val="4602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EF24-E474-37BD-4F22-31F9128E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EB421-497F-920D-7D2E-E11F29DDA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2.15 Increment and Decrement 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CCF8E-61E9-63D7-6381-667B79644E18}"/>
              </a:ext>
            </a:extLst>
          </p:cNvPr>
          <p:cNvSpPr txBox="1"/>
          <p:nvPr/>
        </p:nvSpPr>
        <p:spPr>
          <a:xfrm>
            <a:off x="4177959" y="3167390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Consolas" panose="020B0609020204030204" pitchFamily="49" charset="0"/>
              </a:rPr>
              <a:t>k =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3D46E8-1205-73E2-6655-51F0B057C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218" y="2074332"/>
            <a:ext cx="4419983" cy="922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450FA1-8C0C-F41B-245A-DC4CBD026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218" y="3923913"/>
            <a:ext cx="4976291" cy="7620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B41351-CAEE-12B8-DCF1-5C59C1F5C9EB}"/>
              </a:ext>
            </a:extLst>
          </p:cNvPr>
          <p:cNvSpPr txBox="1"/>
          <p:nvPr/>
        </p:nvSpPr>
        <p:spPr>
          <a:xfrm>
            <a:off x="4177958" y="5090240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Consolas" panose="020B0609020204030204" pitchFamily="49" charset="0"/>
              </a:rPr>
              <a:t>k = 5</a:t>
            </a:r>
          </a:p>
        </p:txBody>
      </p:sp>
    </p:spTree>
    <p:extLst>
      <p:ext uri="{BB962C8B-B14F-4D97-AF65-F5344CB8AC3E}">
        <p14:creationId xmlns:p14="http://schemas.microsoft.com/office/powerpoint/2010/main" val="344259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2672B-4AD3-AB0C-3E3D-7886FFE7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1AF8-F332-1A0B-5FF5-55BCBD02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2.16 Numeric Type Conversions and Casting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8DD068-9499-0510-3342-490B17EDB8F9}"/>
              </a:ext>
            </a:extLst>
          </p:cNvPr>
          <p:cNvSpPr txBox="1"/>
          <p:nvPr/>
        </p:nvSpPr>
        <p:spPr>
          <a:xfrm>
            <a:off x="1194955" y="2015837"/>
            <a:ext cx="8736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Floating-point numbers can be converted into integers using explicit casting.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516C34-5599-8830-0C18-490B3BCB7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465" y="2651992"/>
            <a:ext cx="6073666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95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3535-98DD-1BCA-BB19-1B303D8E5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9E227-7DAA-E2BA-0B40-1B2AE608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2.16 Numeric Type Conversions and Casting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0E658-C661-A21A-3A06-D82201DC0269}"/>
              </a:ext>
            </a:extLst>
          </p:cNvPr>
          <p:cNvSpPr txBox="1"/>
          <p:nvPr/>
        </p:nvSpPr>
        <p:spPr>
          <a:xfrm>
            <a:off x="1194955" y="2015837"/>
            <a:ext cx="97362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FF00"/>
              </a:buClr>
              <a:buSzPct val="103000"/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400" b="1" u="sng" dirty="0">
                <a:solidFill>
                  <a:srgbClr val="FFFF00"/>
                </a:solidFill>
              </a:rPr>
              <a:t>Casting</a:t>
            </a:r>
            <a:r>
              <a:rPr lang="en-US" sz="2400" dirty="0"/>
              <a:t> is an operation that converts a value of one data type into a value of another data type.</a:t>
            </a:r>
          </a:p>
          <a:p>
            <a:pPr marL="285750" indent="-285750">
              <a:buClr>
                <a:srgbClr val="FFFF00"/>
              </a:buClr>
              <a:buSzPct val="103000"/>
              <a:buFont typeface="Arial" panose="020B0604020202020204" pitchFamily="34" charset="0"/>
              <a:buChar char="•"/>
            </a:pPr>
            <a:r>
              <a:rPr lang="en-US" sz="2400" dirty="0"/>
              <a:t>Casting a type with a small range to a type with a larger range is known as </a:t>
            </a:r>
            <a:r>
              <a:rPr lang="en-US" sz="2400" b="1" u="sng" dirty="0">
                <a:solidFill>
                  <a:srgbClr val="FFFF00"/>
                </a:solidFill>
              </a:rPr>
              <a:t>widening a type</a:t>
            </a:r>
            <a:r>
              <a:rPr lang="en-US" sz="2400" dirty="0"/>
              <a:t>.</a:t>
            </a:r>
          </a:p>
          <a:p>
            <a:pPr marL="285750" indent="-285750">
              <a:buClr>
                <a:srgbClr val="FFFF00"/>
              </a:buClr>
              <a:buSzPct val="103000"/>
              <a:buFont typeface="Arial" panose="020B0604020202020204" pitchFamily="34" charset="0"/>
              <a:buChar char="•"/>
            </a:pPr>
            <a:r>
              <a:rPr lang="en-US" sz="2400" dirty="0"/>
              <a:t>Casting a type with a large range to a type with a smaller range is known as </a:t>
            </a:r>
            <a:r>
              <a:rPr lang="en-US" sz="2400" b="1" u="sng" dirty="0">
                <a:solidFill>
                  <a:srgbClr val="FFFF00"/>
                </a:solidFill>
              </a:rPr>
              <a:t>narrowing a type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2716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B2023-A143-8A9D-0615-3A7507F3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D96E-170A-F534-53DE-89C55707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2.16 Numeric Type Conversions and Casting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342F3-3D75-38A3-19B9-3F9742A04E78}"/>
              </a:ext>
            </a:extLst>
          </p:cNvPr>
          <p:cNvSpPr txBox="1"/>
          <p:nvPr/>
        </p:nvSpPr>
        <p:spPr>
          <a:xfrm>
            <a:off x="1537854" y="2067791"/>
            <a:ext cx="803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Casting syntax is achieved by </a:t>
            </a:r>
            <a:r>
              <a:rPr lang="en-US" dirty="0">
                <a:solidFill>
                  <a:srgbClr val="FFFF00"/>
                </a:solidFill>
              </a:rPr>
              <a:t>prepending</a:t>
            </a:r>
            <a:r>
              <a:rPr lang="en-US" dirty="0"/>
              <a:t> the datatype in parenthesis.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32354-D522-09CD-0E8C-BCAF501A2916}"/>
              </a:ext>
            </a:extLst>
          </p:cNvPr>
          <p:cNvSpPr txBox="1"/>
          <p:nvPr/>
        </p:nvSpPr>
        <p:spPr>
          <a:xfrm>
            <a:off x="1544780" y="2542312"/>
            <a:ext cx="4047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</a:rPr>
              <a:t>(int)</a:t>
            </a:r>
            <a:r>
              <a:rPr lang="en-US" dirty="0">
                <a:latin typeface="Consolas" panose="020B0609020204030204" pitchFamily="49" charset="0"/>
              </a:rPr>
              <a:t> 1.7);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09F6EA-79BF-AD20-0FAF-64F6A2CA9F30}"/>
              </a:ext>
            </a:extLst>
          </p:cNvPr>
          <p:cNvSpPr txBox="1"/>
          <p:nvPr/>
        </p:nvSpPr>
        <p:spPr>
          <a:xfrm>
            <a:off x="1530924" y="3027224"/>
            <a:ext cx="468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</a:rPr>
              <a:t>(double)</a:t>
            </a:r>
            <a:r>
              <a:rPr lang="en-US" dirty="0">
                <a:latin typeface="Consolas" panose="020B0609020204030204" pitchFamily="49" charset="0"/>
              </a:rPr>
              <a:t> 1 / 2);</a:t>
            </a:r>
          </a:p>
        </p:txBody>
      </p:sp>
    </p:spTree>
    <p:extLst>
      <p:ext uri="{BB962C8B-B14F-4D97-AF65-F5344CB8AC3E}">
        <p14:creationId xmlns:p14="http://schemas.microsoft.com/office/powerpoint/2010/main" val="958341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A071-8F97-A3FE-78B3-E260C9A7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8C42-8030-CDCA-4DF2-47C72880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2.17 Software Development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7127C-BCF3-1EE7-1AD4-D8AB6C56C1EB}"/>
              </a:ext>
            </a:extLst>
          </p:cNvPr>
          <p:cNvSpPr txBox="1"/>
          <p:nvPr/>
        </p:nvSpPr>
        <p:spPr>
          <a:xfrm>
            <a:off x="1007919" y="1846523"/>
            <a:ext cx="10599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FFFF00"/>
                </a:solidFill>
              </a:rPr>
              <a:t>software development life cycle</a:t>
            </a:r>
            <a:r>
              <a:rPr lang="en-US" sz="2400" dirty="0"/>
              <a:t> is a multistage process that includes requirements specification, analysis, design, implementation, testing, deployment, and maintenance.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BFC7A-FE97-FCFA-6C7D-21B006A57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016" y="3150761"/>
            <a:ext cx="5979968" cy="357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5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7405A-EB18-D892-F568-87F427642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30271-00DA-082F-A1D9-E9E590FA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2.19 Common Errors and Pitfalls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5F55C-53B7-706F-2A1F-4C91FBC394DA}"/>
              </a:ext>
            </a:extLst>
          </p:cNvPr>
          <p:cNvSpPr txBox="1"/>
          <p:nvPr/>
        </p:nvSpPr>
        <p:spPr>
          <a:xfrm>
            <a:off x="646111" y="1253083"/>
            <a:ext cx="10599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Common elementary programming errors often involve undeclared variables, uninitialized variables, integer overflow, unintended integer division, and round-off errors.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3E04B-58F2-E07F-DC48-8C2CBD2B063C}"/>
              </a:ext>
            </a:extLst>
          </p:cNvPr>
          <p:cNvSpPr txBox="1"/>
          <p:nvPr/>
        </p:nvSpPr>
        <p:spPr>
          <a:xfrm>
            <a:off x="480520" y="2781721"/>
            <a:ext cx="11230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Common Error 1</a:t>
            </a:r>
            <a:r>
              <a:rPr lang="en-US" sz="2400" dirty="0">
                <a:solidFill>
                  <a:srgbClr val="FFFF00"/>
                </a:solidFill>
              </a:rPr>
              <a:t>: Undeclared/Uninitialized Variables and Unused Variables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23AC35-39F2-6D98-6455-96FDD6E9E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007" y="3778091"/>
            <a:ext cx="6386113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622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E5D60-F5FE-F82C-1CA6-F2137871F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61E2-5D35-0F9F-CBC3-AC0F2B7D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2.19 Common Errors and Pitfalls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FDF8A-FFA5-095C-085C-6C2147E3AC32}"/>
              </a:ext>
            </a:extLst>
          </p:cNvPr>
          <p:cNvSpPr txBox="1"/>
          <p:nvPr/>
        </p:nvSpPr>
        <p:spPr>
          <a:xfrm>
            <a:off x="646111" y="1253083"/>
            <a:ext cx="10599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Common elementary programming errors often involve undeclared variables, uninitialized variables, integer overflow, unintended integer division, and round-off errors.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955E4-258A-0B62-A7A7-847AB87A9C98}"/>
              </a:ext>
            </a:extLst>
          </p:cNvPr>
          <p:cNvSpPr txBox="1"/>
          <p:nvPr/>
        </p:nvSpPr>
        <p:spPr>
          <a:xfrm>
            <a:off x="480520" y="2781721"/>
            <a:ext cx="5227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Common Error 2: </a:t>
            </a:r>
            <a:r>
              <a:rPr lang="en-US" sz="2400" dirty="0">
                <a:solidFill>
                  <a:srgbClr val="FFFF00"/>
                </a:solidFill>
              </a:rPr>
              <a:t>Integer Overflow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DBAA7D-2C1F-6B42-5B79-EF526AC7A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416" y="3619661"/>
            <a:ext cx="5471634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84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3966-CAC1-95FC-3DAB-E9F8E8A45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70F8-7BA1-F95D-4597-57B7816E8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2.19 Common Errors and Pitfalls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0B128-B1D8-CB00-CAF8-8D04D9B4455D}"/>
              </a:ext>
            </a:extLst>
          </p:cNvPr>
          <p:cNvSpPr txBox="1"/>
          <p:nvPr/>
        </p:nvSpPr>
        <p:spPr>
          <a:xfrm>
            <a:off x="646111" y="1253083"/>
            <a:ext cx="10599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Common elementary programming errors often involve undeclared variables, uninitialized variables, integer overflow, unintended integer division, and round-off errors.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922354-5237-8B00-9F1F-0A92D96FDC9F}"/>
              </a:ext>
            </a:extLst>
          </p:cNvPr>
          <p:cNvSpPr txBox="1"/>
          <p:nvPr/>
        </p:nvSpPr>
        <p:spPr>
          <a:xfrm>
            <a:off x="480520" y="2781721"/>
            <a:ext cx="5227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Common Error 3: </a:t>
            </a:r>
            <a:r>
              <a:rPr lang="en-US" sz="2400" dirty="0">
                <a:solidFill>
                  <a:srgbClr val="FFFF00"/>
                </a:solidFill>
              </a:rPr>
              <a:t>Round-off Errors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30914C-C3CC-2179-14B0-FCEF1B1B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332" y="3243386"/>
            <a:ext cx="6157494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922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B50FE-9B7D-4EB3-4584-2F58DC74B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B2BF-9213-2694-A580-DE77A79D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2.19 Common Errors and Pitfalls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39085-3794-DEA3-378A-3BA6F766D02B}"/>
              </a:ext>
            </a:extLst>
          </p:cNvPr>
          <p:cNvSpPr txBox="1"/>
          <p:nvPr/>
        </p:nvSpPr>
        <p:spPr>
          <a:xfrm>
            <a:off x="646111" y="1253083"/>
            <a:ext cx="10599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Common elementary programming errors often involve undeclared variables, uninitialized variables, integer overflow, unintended integer division, and round-off errors.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D3AC5-118A-A660-5013-567E3F10363A}"/>
              </a:ext>
            </a:extLst>
          </p:cNvPr>
          <p:cNvSpPr txBox="1"/>
          <p:nvPr/>
        </p:nvSpPr>
        <p:spPr>
          <a:xfrm>
            <a:off x="480520" y="2781721"/>
            <a:ext cx="6827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Common Error 4: </a:t>
            </a:r>
            <a:r>
              <a:rPr lang="en-US" sz="2400" dirty="0">
                <a:solidFill>
                  <a:srgbClr val="FFFF00"/>
                </a:solidFill>
              </a:rPr>
              <a:t>Unintended Integer Division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AC8FB-83BF-BBB9-41F2-D45588136A71}"/>
              </a:ext>
            </a:extLst>
          </p:cNvPr>
          <p:cNvSpPr txBox="1"/>
          <p:nvPr/>
        </p:nvSpPr>
        <p:spPr>
          <a:xfrm>
            <a:off x="480520" y="3381885"/>
            <a:ext cx="63882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int number1 = 1;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int number2 = 2; 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double average = (number1 + number2) / 2;</a:t>
            </a:r>
          </a:p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(average);  // average is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8949E-6C56-8CF4-F3B0-AA3421AD4BAD}"/>
              </a:ext>
            </a:extLst>
          </p:cNvPr>
          <p:cNvSpPr txBox="1"/>
          <p:nvPr/>
        </p:nvSpPr>
        <p:spPr>
          <a:xfrm>
            <a:off x="480520" y="4931355"/>
            <a:ext cx="7977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int number1 = 1;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int number2 = 2; 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</a:rPr>
              <a:t>double average = (number1 + number2) / </a:t>
            </a:r>
            <a:r>
              <a:rPr lang="en-US" b="1" dirty="0">
                <a:solidFill>
                  <a:srgbClr val="FFFF00"/>
                </a:solidFill>
                <a:effectLst/>
                <a:latin typeface="Courier New" panose="02070309020205020404" pitchFamily="49" charset="0"/>
              </a:rPr>
              <a:t>2.0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(average); // average is 1.5</a:t>
            </a:r>
          </a:p>
        </p:txBody>
      </p:sp>
    </p:spTree>
    <p:extLst>
      <p:ext uri="{BB962C8B-B14F-4D97-AF65-F5344CB8AC3E}">
        <p14:creationId xmlns:p14="http://schemas.microsoft.com/office/powerpoint/2010/main" val="366481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9B6C-DA7D-CFDA-B216-6CB48FB32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D283-F40B-3B51-AD83-D5F43F65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2.19 Common Errors and Pitfalls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B7016-F241-DC06-19E6-7C5B6A9AA720}"/>
              </a:ext>
            </a:extLst>
          </p:cNvPr>
          <p:cNvSpPr txBox="1"/>
          <p:nvPr/>
        </p:nvSpPr>
        <p:spPr>
          <a:xfrm>
            <a:off x="646111" y="1253083"/>
            <a:ext cx="10599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Common elementary programming errors often involve undeclared variables, uninitialized variables, integer overflow, unintended integer division, and round-off errors.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255BB-6EF8-6E0B-A875-AE96C01F9774}"/>
              </a:ext>
            </a:extLst>
          </p:cNvPr>
          <p:cNvSpPr txBox="1"/>
          <p:nvPr/>
        </p:nvSpPr>
        <p:spPr>
          <a:xfrm>
            <a:off x="646111" y="2412389"/>
            <a:ext cx="6827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Common Pitfall 1: </a:t>
            </a:r>
            <a:r>
              <a:rPr lang="en-US" sz="2400" dirty="0">
                <a:solidFill>
                  <a:srgbClr val="FFFF00"/>
                </a:solidFill>
              </a:rPr>
              <a:t>Redundant Input Objects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0A3CAB-8837-46D5-CBE0-F8286EB97731}"/>
              </a:ext>
            </a:extLst>
          </p:cNvPr>
          <p:cNvSpPr txBox="1"/>
          <p:nvPr/>
        </p:nvSpPr>
        <p:spPr>
          <a:xfrm>
            <a:off x="646111" y="2874054"/>
            <a:ext cx="73438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Scanner input = new Scanner(System.in);</a:t>
            </a:r>
          </a:p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System.out.print</a:t>
            </a:r>
            <a:r>
              <a:rPr lang="en-US" dirty="0">
                <a:latin typeface="Courier New" panose="02070309020205020404" pitchFamily="49" charset="0"/>
              </a:rPr>
              <a:t>("Enter an integer: "); 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int v1 = </a:t>
            </a:r>
            <a:r>
              <a:rPr lang="en-US" dirty="0" err="1">
                <a:latin typeface="Courier New" panose="02070309020205020404" pitchFamily="49" charset="0"/>
              </a:rPr>
              <a:t>input.nextInt</a:t>
            </a:r>
            <a:r>
              <a:rPr lang="en-US" dirty="0">
                <a:latin typeface="Courier New" panose="02070309020205020404" pitchFamily="49" charset="0"/>
              </a:rPr>
              <a:t>(); 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effectLst/>
                <a:latin typeface="Courier New" panose="02070309020205020404" pitchFamily="49" charset="0"/>
              </a:rPr>
              <a:t>Scanner input1 = new Scanner(System.in); // Bad Code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System.out.print</a:t>
            </a:r>
            <a:r>
              <a:rPr lang="en-US" dirty="0">
                <a:latin typeface="Courier New" panose="02070309020205020404" pitchFamily="49" charset="0"/>
              </a:rPr>
              <a:t>("Enter a double value: "); 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double v2 = input1.nextDouble();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2B5E4-4CDD-9576-16A2-E7221F9CBCD1}"/>
              </a:ext>
            </a:extLst>
          </p:cNvPr>
          <p:cNvSpPr txBox="1"/>
          <p:nvPr/>
        </p:nvSpPr>
        <p:spPr>
          <a:xfrm>
            <a:off x="659059" y="5103674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Scanner input = new Scanner(System.in);</a:t>
            </a:r>
          </a:p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System.out.print</a:t>
            </a:r>
            <a:r>
              <a:rPr lang="en-US" dirty="0">
                <a:latin typeface="Courier New" panose="02070309020205020404" pitchFamily="49" charset="0"/>
              </a:rPr>
              <a:t>("Enter an integer: "); 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int v1 = </a:t>
            </a:r>
            <a:r>
              <a:rPr lang="en-US" dirty="0" err="1">
                <a:latin typeface="Courier New" panose="02070309020205020404" pitchFamily="49" charset="0"/>
              </a:rPr>
              <a:t>input.nextInt</a:t>
            </a:r>
            <a:r>
              <a:rPr lang="en-US" dirty="0">
                <a:latin typeface="Courier New" panose="02070309020205020404" pitchFamily="49" charset="0"/>
              </a:rPr>
              <a:t>(); 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System.out.print</a:t>
            </a:r>
            <a:r>
              <a:rPr lang="en-US" dirty="0">
                <a:latin typeface="Courier New" panose="02070309020205020404" pitchFamily="49" charset="0"/>
              </a:rPr>
              <a:t>("Enter a double value: "); 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</a:rPr>
              <a:t>double v2 = </a:t>
            </a:r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input.nextDouble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</a:rPr>
              <a:t>();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918594-FDD9-902A-58D9-4C1B82C1E0DF}"/>
              </a:ext>
            </a:extLst>
          </p:cNvPr>
          <p:cNvCxnSpPr/>
          <p:nvPr/>
        </p:nvCxnSpPr>
        <p:spPr>
          <a:xfrm>
            <a:off x="646111" y="4905379"/>
            <a:ext cx="96304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4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A7C7559C5F5646811A04B835F0A55E" ma:contentTypeVersion="8" ma:contentTypeDescription="Create a new document." ma:contentTypeScope="" ma:versionID="ab5794de7671f36f9af590cd60528b57">
  <xsd:schema xmlns:xsd="http://www.w3.org/2001/XMLSchema" xmlns:xs="http://www.w3.org/2001/XMLSchema" xmlns:p="http://schemas.microsoft.com/office/2006/metadata/properties" xmlns:ns3="15581464-e061-4b9c-8f54-4afddfb39516" targetNamespace="http://schemas.microsoft.com/office/2006/metadata/properties" ma:root="true" ma:fieldsID="51cb98cea5eb4d29c301211dcea5566f" ns3:_="">
    <xsd:import namespace="15581464-e061-4b9c-8f54-4afddfb3951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81464-e061-4b9c-8f54-4afddfb3951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31D920-E793-4497-B43B-C2491E1EAA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81464-e061-4b9c-8f54-4afddfb395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8C88F1-1664-415F-AFCE-F6CF45809817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15581464-e061-4b9c-8f54-4afddfb39516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610</TotalTime>
  <Words>1641</Words>
  <Application>Microsoft Office PowerPoint</Application>
  <PresentationFormat>Widescreen</PresentationFormat>
  <Paragraphs>213</Paragraphs>
  <Slides>38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Century Gothic</vt:lpstr>
      <vt:lpstr>Consolas</vt:lpstr>
      <vt:lpstr>Courier New</vt:lpstr>
      <vt:lpstr>Wingdings</vt:lpstr>
      <vt:lpstr>Wingdings 3</vt:lpstr>
      <vt:lpstr>Ion</vt:lpstr>
      <vt:lpstr>Java Programming I</vt:lpstr>
      <vt:lpstr>2.1 Introduction</vt:lpstr>
      <vt:lpstr>2.2 Writing a simple program</vt:lpstr>
      <vt:lpstr>2.2 Writing a simple program</vt:lpstr>
      <vt:lpstr>2.3 Reading input from the console</vt:lpstr>
      <vt:lpstr>2.3 Reading input from the console</vt:lpstr>
      <vt:lpstr>2.4 Identifiers</vt:lpstr>
      <vt:lpstr>2.4 Identifiers</vt:lpstr>
      <vt:lpstr>2.4 Identifiers</vt:lpstr>
      <vt:lpstr>2.4 Identifiers</vt:lpstr>
      <vt:lpstr>2.4 Identifiers</vt:lpstr>
      <vt:lpstr>2.5 Variables</vt:lpstr>
      <vt:lpstr>2.5 Variables</vt:lpstr>
      <vt:lpstr>2.6 Assignment statements and Assignment expressions</vt:lpstr>
      <vt:lpstr>2.7 Named Constants</vt:lpstr>
      <vt:lpstr>2.8 Naming Conventions</vt:lpstr>
      <vt:lpstr>2.8 Numeric Data Types and Operations</vt:lpstr>
      <vt:lpstr>2.9.2 Numeric Operations</vt:lpstr>
      <vt:lpstr>2.9.3 Exponent Operations</vt:lpstr>
      <vt:lpstr>2.10 Numeric Literals</vt:lpstr>
      <vt:lpstr>2.11 JShell</vt:lpstr>
      <vt:lpstr>2.12 Evaluating Expressions and Operator Precedence</vt:lpstr>
      <vt:lpstr>2.14 Augmented Assignment Operators</vt:lpstr>
      <vt:lpstr>2.14 Evaluating Expressions and Operator Precedence</vt:lpstr>
      <vt:lpstr>2.14 Evaluating Expressions and Operator Precedence</vt:lpstr>
      <vt:lpstr>2.15 Increment and Decrement Operators</vt:lpstr>
      <vt:lpstr>2.15 Increment and Decrement Operators</vt:lpstr>
      <vt:lpstr>2.15 Increment and Decrement Operators</vt:lpstr>
      <vt:lpstr>2.15 Increment and Decrement Operators</vt:lpstr>
      <vt:lpstr>2.16 Numeric Type Conversions and Casting</vt:lpstr>
      <vt:lpstr>2.16 Numeric Type Conversions and Casting</vt:lpstr>
      <vt:lpstr>2.16 Numeric Type Conversions and Casting</vt:lpstr>
      <vt:lpstr>2.17 Software Development Process</vt:lpstr>
      <vt:lpstr>2.19 Common Errors and Pitfalls</vt:lpstr>
      <vt:lpstr>2.19 Common Errors and Pitfalls</vt:lpstr>
      <vt:lpstr>2.19 Common Errors and Pitfalls</vt:lpstr>
      <vt:lpstr>2.19 Common Errors and Pitfalls</vt:lpstr>
      <vt:lpstr>2.19 Common Errors and Pitfalls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Dobbs</dc:creator>
  <cp:lastModifiedBy>Dobbs, Eric</cp:lastModifiedBy>
  <cp:revision>2</cp:revision>
  <dcterms:created xsi:type="dcterms:W3CDTF">2026-01-21T15:38:42Z</dcterms:created>
  <dcterms:modified xsi:type="dcterms:W3CDTF">2026-01-23T03:27:58Z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0x01010098A7C7559C5F5646811A04B835F0A55E</vt:lpwstr>
  </property>
</Properties>
</file>